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21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893C97-DE6E-4048-9F00-66A553B306B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6CF242-C712-462B-93E6-3FB7FB9A114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“Limiting user access... is crucial to prevent unauthorized changes and leaks” (Fernandes, 2025).</a:t>
          </a:r>
        </a:p>
      </dgm:t>
    </dgm:pt>
    <dgm:pt modelId="{2948D7CD-9CE9-4241-95C8-D6BBA2DED4C3}" type="parTrans" cxnId="{12DFD5FC-DD07-4D5E-8C12-A3BD3BFFE589}">
      <dgm:prSet/>
      <dgm:spPr/>
      <dgm:t>
        <a:bodyPr/>
        <a:lstStyle/>
        <a:p>
          <a:endParaRPr lang="en-US"/>
        </a:p>
      </dgm:t>
    </dgm:pt>
    <dgm:pt modelId="{0C672058-45E3-44AE-8039-27E833490243}" type="sibTrans" cxnId="{12DFD5FC-DD07-4D5E-8C12-A3BD3BFFE589}">
      <dgm:prSet/>
      <dgm:spPr/>
      <dgm:t>
        <a:bodyPr/>
        <a:lstStyle/>
        <a:p>
          <a:endParaRPr lang="en-US"/>
        </a:p>
      </dgm:t>
    </dgm:pt>
    <dgm:pt modelId="{78B06224-8F6F-4419-BFCF-456412EA77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Use role-based access and 2FA/MFA</a:t>
          </a:r>
        </a:p>
      </dgm:t>
    </dgm:pt>
    <dgm:pt modelId="{B7B71528-5B4B-4B3B-AF4F-E2EF957448AA}" type="parTrans" cxnId="{CC7014F6-7ADD-43F6-9DED-4FF1188D331C}">
      <dgm:prSet/>
      <dgm:spPr/>
      <dgm:t>
        <a:bodyPr/>
        <a:lstStyle/>
        <a:p>
          <a:endParaRPr lang="en-US"/>
        </a:p>
      </dgm:t>
    </dgm:pt>
    <dgm:pt modelId="{31B19BA7-1EF1-4861-98C5-608BB34D3BB9}" type="sibTrans" cxnId="{CC7014F6-7ADD-43F6-9DED-4FF1188D331C}">
      <dgm:prSet/>
      <dgm:spPr/>
      <dgm:t>
        <a:bodyPr/>
        <a:lstStyle/>
        <a:p>
          <a:endParaRPr lang="en-US"/>
        </a:p>
      </dgm:t>
    </dgm:pt>
    <dgm:pt modelId="{9AB40177-14F3-4E97-BF8E-FF3257E5A5B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Remote teams need stricter controls</a:t>
          </a:r>
        </a:p>
      </dgm:t>
    </dgm:pt>
    <dgm:pt modelId="{936CC533-E698-4994-A86A-AFCE051DE0CE}" type="parTrans" cxnId="{824CD8BC-4F83-482C-AB49-1573DF2E60C7}">
      <dgm:prSet/>
      <dgm:spPr/>
      <dgm:t>
        <a:bodyPr/>
        <a:lstStyle/>
        <a:p>
          <a:endParaRPr lang="en-US"/>
        </a:p>
      </dgm:t>
    </dgm:pt>
    <dgm:pt modelId="{C2DEEC37-A217-48AF-AE88-78F66D3F1F69}" type="sibTrans" cxnId="{824CD8BC-4F83-482C-AB49-1573DF2E60C7}">
      <dgm:prSet/>
      <dgm:spPr/>
      <dgm:t>
        <a:bodyPr/>
        <a:lstStyle/>
        <a:p>
          <a:endParaRPr lang="en-US"/>
        </a:p>
      </dgm:t>
    </dgm:pt>
    <dgm:pt modelId="{3907D099-6988-41FE-9C7C-F65173212518}" type="pres">
      <dgm:prSet presAssocID="{42893C97-DE6E-4048-9F00-66A553B306BE}" presName="root" presStyleCnt="0">
        <dgm:presLayoutVars>
          <dgm:dir/>
          <dgm:resizeHandles val="exact"/>
        </dgm:presLayoutVars>
      </dgm:prSet>
      <dgm:spPr/>
    </dgm:pt>
    <dgm:pt modelId="{9EFA8FF1-15FC-45CC-804E-0BE07272CFB1}" type="pres">
      <dgm:prSet presAssocID="{F56CF242-C712-462B-93E6-3FB7FB9A114E}" presName="compNode" presStyleCnt="0"/>
      <dgm:spPr/>
    </dgm:pt>
    <dgm:pt modelId="{59CA0A4F-B1A5-4BFE-8FBF-9321512A1F2A}" type="pres">
      <dgm:prSet presAssocID="{F56CF242-C712-462B-93E6-3FB7FB9A114E}" presName="iconBgRect" presStyleLbl="bgShp" presStyleIdx="0" presStyleCnt="3"/>
      <dgm:spPr/>
    </dgm:pt>
    <dgm:pt modelId="{BA305D65-3C3E-476A-9AE1-35FEC179614C}" type="pres">
      <dgm:prSet presAssocID="{F56CF242-C712-462B-93E6-3FB7FB9A114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DAECFD79-9C9B-4CAE-ABA4-306EE15DD788}" type="pres">
      <dgm:prSet presAssocID="{F56CF242-C712-462B-93E6-3FB7FB9A114E}" presName="spaceRect" presStyleCnt="0"/>
      <dgm:spPr/>
    </dgm:pt>
    <dgm:pt modelId="{CEA66EA3-15F1-45AA-AB0B-907C25626BAD}" type="pres">
      <dgm:prSet presAssocID="{F56CF242-C712-462B-93E6-3FB7FB9A114E}" presName="textRect" presStyleLbl="revTx" presStyleIdx="0" presStyleCnt="3">
        <dgm:presLayoutVars>
          <dgm:chMax val="1"/>
          <dgm:chPref val="1"/>
        </dgm:presLayoutVars>
      </dgm:prSet>
      <dgm:spPr/>
    </dgm:pt>
    <dgm:pt modelId="{D0E6641D-159C-4044-BDCE-32B2E3D181D1}" type="pres">
      <dgm:prSet presAssocID="{0C672058-45E3-44AE-8039-27E833490243}" presName="sibTrans" presStyleCnt="0"/>
      <dgm:spPr/>
    </dgm:pt>
    <dgm:pt modelId="{AFD5577D-6FDF-4CAB-8CEA-EB2871D4B83E}" type="pres">
      <dgm:prSet presAssocID="{78B06224-8F6F-4419-BFCF-456412EA77C0}" presName="compNode" presStyleCnt="0"/>
      <dgm:spPr/>
    </dgm:pt>
    <dgm:pt modelId="{8FA15924-A297-4D52-91E9-ABB1F8CADA59}" type="pres">
      <dgm:prSet presAssocID="{78B06224-8F6F-4419-BFCF-456412EA77C0}" presName="iconBgRect" presStyleLbl="bgShp" presStyleIdx="1" presStyleCnt="3"/>
      <dgm:spPr/>
    </dgm:pt>
    <dgm:pt modelId="{A7F72826-C410-4FA3-8B83-EF810E47E25C}" type="pres">
      <dgm:prSet presAssocID="{78B06224-8F6F-4419-BFCF-456412EA77C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F498961D-7651-4794-8DD9-49A958CAD1D6}" type="pres">
      <dgm:prSet presAssocID="{78B06224-8F6F-4419-BFCF-456412EA77C0}" presName="spaceRect" presStyleCnt="0"/>
      <dgm:spPr/>
    </dgm:pt>
    <dgm:pt modelId="{CDD8580C-5B02-4F93-B0CD-811CB6DCC07C}" type="pres">
      <dgm:prSet presAssocID="{78B06224-8F6F-4419-BFCF-456412EA77C0}" presName="textRect" presStyleLbl="revTx" presStyleIdx="1" presStyleCnt="3">
        <dgm:presLayoutVars>
          <dgm:chMax val="1"/>
          <dgm:chPref val="1"/>
        </dgm:presLayoutVars>
      </dgm:prSet>
      <dgm:spPr/>
    </dgm:pt>
    <dgm:pt modelId="{CFBF4159-BE5A-4B25-BA51-DF8B328FABCC}" type="pres">
      <dgm:prSet presAssocID="{31B19BA7-1EF1-4861-98C5-608BB34D3BB9}" presName="sibTrans" presStyleCnt="0"/>
      <dgm:spPr/>
    </dgm:pt>
    <dgm:pt modelId="{8077ABD9-7BBB-4580-932D-0A0C76E4F596}" type="pres">
      <dgm:prSet presAssocID="{9AB40177-14F3-4E97-BF8E-FF3257E5A5BF}" presName="compNode" presStyleCnt="0"/>
      <dgm:spPr/>
    </dgm:pt>
    <dgm:pt modelId="{033E39CE-97A0-472E-B3C4-0E3B68D17E73}" type="pres">
      <dgm:prSet presAssocID="{9AB40177-14F3-4E97-BF8E-FF3257E5A5BF}" presName="iconBgRect" presStyleLbl="bgShp" presStyleIdx="2" presStyleCnt="3"/>
      <dgm:spPr/>
    </dgm:pt>
    <dgm:pt modelId="{4263CAA4-53EC-4030-89E2-84ACE4AFCC83}" type="pres">
      <dgm:prSet presAssocID="{9AB40177-14F3-4E97-BF8E-FF3257E5A5B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DF8C7D6-D603-4176-8954-29114A9E10AA}" type="pres">
      <dgm:prSet presAssocID="{9AB40177-14F3-4E97-BF8E-FF3257E5A5BF}" presName="spaceRect" presStyleCnt="0"/>
      <dgm:spPr/>
    </dgm:pt>
    <dgm:pt modelId="{28799C69-1423-47DE-A490-196B6FD26D1B}" type="pres">
      <dgm:prSet presAssocID="{9AB40177-14F3-4E97-BF8E-FF3257E5A5B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5012B10-64CC-443F-A1BD-D4E6CEDD68B8}" type="presOf" srcId="{78B06224-8F6F-4419-BFCF-456412EA77C0}" destId="{CDD8580C-5B02-4F93-B0CD-811CB6DCC07C}" srcOrd="0" destOrd="0" presId="urn:microsoft.com/office/officeart/2018/5/layout/IconCircleLabelList"/>
    <dgm:cxn modelId="{C3C0D340-5754-4E66-AA3A-C5D5FE13752D}" type="presOf" srcId="{F56CF242-C712-462B-93E6-3FB7FB9A114E}" destId="{CEA66EA3-15F1-45AA-AB0B-907C25626BAD}" srcOrd="0" destOrd="0" presId="urn:microsoft.com/office/officeart/2018/5/layout/IconCircleLabelList"/>
    <dgm:cxn modelId="{824CD8BC-4F83-482C-AB49-1573DF2E60C7}" srcId="{42893C97-DE6E-4048-9F00-66A553B306BE}" destId="{9AB40177-14F3-4E97-BF8E-FF3257E5A5BF}" srcOrd="2" destOrd="0" parTransId="{936CC533-E698-4994-A86A-AFCE051DE0CE}" sibTransId="{C2DEEC37-A217-48AF-AE88-78F66D3F1F69}"/>
    <dgm:cxn modelId="{82E60ABF-A4ED-4729-91E2-0DB37587E805}" type="presOf" srcId="{9AB40177-14F3-4E97-BF8E-FF3257E5A5BF}" destId="{28799C69-1423-47DE-A490-196B6FD26D1B}" srcOrd="0" destOrd="0" presId="urn:microsoft.com/office/officeart/2018/5/layout/IconCircleLabelList"/>
    <dgm:cxn modelId="{78D07BF2-348D-455C-80EF-4019ABEEA6BC}" type="presOf" srcId="{42893C97-DE6E-4048-9F00-66A553B306BE}" destId="{3907D099-6988-41FE-9C7C-F65173212518}" srcOrd="0" destOrd="0" presId="urn:microsoft.com/office/officeart/2018/5/layout/IconCircleLabelList"/>
    <dgm:cxn modelId="{CC7014F6-7ADD-43F6-9DED-4FF1188D331C}" srcId="{42893C97-DE6E-4048-9F00-66A553B306BE}" destId="{78B06224-8F6F-4419-BFCF-456412EA77C0}" srcOrd="1" destOrd="0" parTransId="{B7B71528-5B4B-4B3B-AF4F-E2EF957448AA}" sibTransId="{31B19BA7-1EF1-4861-98C5-608BB34D3BB9}"/>
    <dgm:cxn modelId="{12DFD5FC-DD07-4D5E-8C12-A3BD3BFFE589}" srcId="{42893C97-DE6E-4048-9F00-66A553B306BE}" destId="{F56CF242-C712-462B-93E6-3FB7FB9A114E}" srcOrd="0" destOrd="0" parTransId="{2948D7CD-9CE9-4241-95C8-D6BBA2DED4C3}" sibTransId="{0C672058-45E3-44AE-8039-27E833490243}"/>
    <dgm:cxn modelId="{1D963BEF-80BC-4BB0-ACF4-E85B1A4477B0}" type="presParOf" srcId="{3907D099-6988-41FE-9C7C-F65173212518}" destId="{9EFA8FF1-15FC-45CC-804E-0BE07272CFB1}" srcOrd="0" destOrd="0" presId="urn:microsoft.com/office/officeart/2018/5/layout/IconCircleLabelList"/>
    <dgm:cxn modelId="{AD8B62D7-BA3E-42C5-B766-A773F4343CA2}" type="presParOf" srcId="{9EFA8FF1-15FC-45CC-804E-0BE07272CFB1}" destId="{59CA0A4F-B1A5-4BFE-8FBF-9321512A1F2A}" srcOrd="0" destOrd="0" presId="urn:microsoft.com/office/officeart/2018/5/layout/IconCircleLabelList"/>
    <dgm:cxn modelId="{3CE4F16A-991B-4491-9BAA-F3AEB514D6BC}" type="presParOf" srcId="{9EFA8FF1-15FC-45CC-804E-0BE07272CFB1}" destId="{BA305D65-3C3E-476A-9AE1-35FEC179614C}" srcOrd="1" destOrd="0" presId="urn:microsoft.com/office/officeart/2018/5/layout/IconCircleLabelList"/>
    <dgm:cxn modelId="{EB7A75EB-2DDC-48EB-B712-26CC48360970}" type="presParOf" srcId="{9EFA8FF1-15FC-45CC-804E-0BE07272CFB1}" destId="{DAECFD79-9C9B-4CAE-ABA4-306EE15DD788}" srcOrd="2" destOrd="0" presId="urn:microsoft.com/office/officeart/2018/5/layout/IconCircleLabelList"/>
    <dgm:cxn modelId="{D27D2E9B-5913-4448-AB46-24C95B8EAE04}" type="presParOf" srcId="{9EFA8FF1-15FC-45CC-804E-0BE07272CFB1}" destId="{CEA66EA3-15F1-45AA-AB0B-907C25626BAD}" srcOrd="3" destOrd="0" presId="urn:microsoft.com/office/officeart/2018/5/layout/IconCircleLabelList"/>
    <dgm:cxn modelId="{B5A6C491-CA40-4939-A241-C4F30D5438CF}" type="presParOf" srcId="{3907D099-6988-41FE-9C7C-F65173212518}" destId="{D0E6641D-159C-4044-BDCE-32B2E3D181D1}" srcOrd="1" destOrd="0" presId="urn:microsoft.com/office/officeart/2018/5/layout/IconCircleLabelList"/>
    <dgm:cxn modelId="{BA97BCCC-D8F5-4F12-9132-8AEC311F3217}" type="presParOf" srcId="{3907D099-6988-41FE-9C7C-F65173212518}" destId="{AFD5577D-6FDF-4CAB-8CEA-EB2871D4B83E}" srcOrd="2" destOrd="0" presId="urn:microsoft.com/office/officeart/2018/5/layout/IconCircleLabelList"/>
    <dgm:cxn modelId="{795A804E-6756-48E1-8920-6E39C2A0EADB}" type="presParOf" srcId="{AFD5577D-6FDF-4CAB-8CEA-EB2871D4B83E}" destId="{8FA15924-A297-4D52-91E9-ABB1F8CADA59}" srcOrd="0" destOrd="0" presId="urn:microsoft.com/office/officeart/2018/5/layout/IconCircleLabelList"/>
    <dgm:cxn modelId="{F8918718-9587-4225-BEAA-18DABFC1D7AB}" type="presParOf" srcId="{AFD5577D-6FDF-4CAB-8CEA-EB2871D4B83E}" destId="{A7F72826-C410-4FA3-8B83-EF810E47E25C}" srcOrd="1" destOrd="0" presId="urn:microsoft.com/office/officeart/2018/5/layout/IconCircleLabelList"/>
    <dgm:cxn modelId="{64D1643E-0B02-4C16-839D-909231A7246C}" type="presParOf" srcId="{AFD5577D-6FDF-4CAB-8CEA-EB2871D4B83E}" destId="{F498961D-7651-4794-8DD9-49A958CAD1D6}" srcOrd="2" destOrd="0" presId="urn:microsoft.com/office/officeart/2018/5/layout/IconCircleLabelList"/>
    <dgm:cxn modelId="{D66C829A-7628-4121-82D2-0F5A51192C0A}" type="presParOf" srcId="{AFD5577D-6FDF-4CAB-8CEA-EB2871D4B83E}" destId="{CDD8580C-5B02-4F93-B0CD-811CB6DCC07C}" srcOrd="3" destOrd="0" presId="urn:microsoft.com/office/officeart/2018/5/layout/IconCircleLabelList"/>
    <dgm:cxn modelId="{B713B525-CACA-4358-82D6-2D2639950BC7}" type="presParOf" srcId="{3907D099-6988-41FE-9C7C-F65173212518}" destId="{CFBF4159-BE5A-4B25-BA51-DF8B328FABCC}" srcOrd="3" destOrd="0" presId="urn:microsoft.com/office/officeart/2018/5/layout/IconCircleLabelList"/>
    <dgm:cxn modelId="{55CFF9D4-192C-4900-9C64-9E5F5E4EE035}" type="presParOf" srcId="{3907D099-6988-41FE-9C7C-F65173212518}" destId="{8077ABD9-7BBB-4580-932D-0A0C76E4F596}" srcOrd="4" destOrd="0" presId="urn:microsoft.com/office/officeart/2018/5/layout/IconCircleLabelList"/>
    <dgm:cxn modelId="{C0A57B1A-B634-4B98-B9F9-884FBCA4EB40}" type="presParOf" srcId="{8077ABD9-7BBB-4580-932D-0A0C76E4F596}" destId="{033E39CE-97A0-472E-B3C4-0E3B68D17E73}" srcOrd="0" destOrd="0" presId="urn:microsoft.com/office/officeart/2018/5/layout/IconCircleLabelList"/>
    <dgm:cxn modelId="{1FF7D1C0-32A5-473A-BBAD-E3DD077382FF}" type="presParOf" srcId="{8077ABD9-7BBB-4580-932D-0A0C76E4F596}" destId="{4263CAA4-53EC-4030-89E2-84ACE4AFCC83}" srcOrd="1" destOrd="0" presId="urn:microsoft.com/office/officeart/2018/5/layout/IconCircleLabelList"/>
    <dgm:cxn modelId="{8B060F4A-5752-4401-8B42-E03862D3F614}" type="presParOf" srcId="{8077ABD9-7BBB-4580-932D-0A0C76E4F596}" destId="{FDF8C7D6-D603-4176-8954-29114A9E10AA}" srcOrd="2" destOrd="0" presId="urn:microsoft.com/office/officeart/2018/5/layout/IconCircleLabelList"/>
    <dgm:cxn modelId="{517A4BDB-C828-46C4-B339-FF5E8A079D30}" type="presParOf" srcId="{8077ABD9-7BBB-4580-932D-0A0C76E4F596}" destId="{28799C69-1423-47DE-A490-196B6FD26D1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49C01F-760A-4BAD-A956-EC00118D097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DA03339-E461-48F3-B2ED-F3355D36C391}">
      <dgm:prSet/>
      <dgm:spPr/>
      <dgm:t>
        <a:bodyPr/>
        <a:lstStyle/>
        <a:p>
          <a:r>
            <a:rPr lang="en-US"/>
            <a:t>“Secure your endpoints... from risky activities and malicious attacks” (Berecki, 2022).</a:t>
          </a:r>
        </a:p>
      </dgm:t>
    </dgm:pt>
    <dgm:pt modelId="{0F0C953E-3CC2-4007-A48B-ED062A274D4A}" type="parTrans" cxnId="{AEB2857E-0E2C-43A3-8B4F-AE0AB931D56E}">
      <dgm:prSet/>
      <dgm:spPr/>
      <dgm:t>
        <a:bodyPr/>
        <a:lstStyle/>
        <a:p>
          <a:endParaRPr lang="en-US"/>
        </a:p>
      </dgm:t>
    </dgm:pt>
    <dgm:pt modelId="{83FCB04F-7521-4902-8C59-6C7316FB1714}" type="sibTrans" cxnId="{AEB2857E-0E2C-43A3-8B4F-AE0AB931D56E}">
      <dgm:prSet/>
      <dgm:spPr/>
      <dgm:t>
        <a:bodyPr/>
        <a:lstStyle/>
        <a:p>
          <a:endParaRPr lang="en-US"/>
        </a:p>
      </dgm:t>
    </dgm:pt>
    <dgm:pt modelId="{7512C2E3-A6AB-4C92-929A-83615B941EE2}">
      <dgm:prSet/>
      <dgm:spPr/>
      <dgm:t>
        <a:bodyPr/>
        <a:lstStyle/>
        <a:p>
          <a:r>
            <a:rPr lang="en-US"/>
            <a:t>DLP solutions prevent exfiltration</a:t>
          </a:r>
        </a:p>
      </dgm:t>
    </dgm:pt>
    <dgm:pt modelId="{20135AFF-184F-4A0B-9841-267D00680404}" type="parTrans" cxnId="{71914964-1806-46EF-A581-5131F94CCF4C}">
      <dgm:prSet/>
      <dgm:spPr/>
      <dgm:t>
        <a:bodyPr/>
        <a:lstStyle/>
        <a:p>
          <a:endParaRPr lang="en-US"/>
        </a:p>
      </dgm:t>
    </dgm:pt>
    <dgm:pt modelId="{E20A3CF3-2DC2-4C90-B425-3376D45855E7}" type="sibTrans" cxnId="{71914964-1806-46EF-A581-5131F94CCF4C}">
      <dgm:prSet/>
      <dgm:spPr/>
      <dgm:t>
        <a:bodyPr/>
        <a:lstStyle/>
        <a:p>
          <a:endParaRPr lang="en-US"/>
        </a:p>
      </dgm:t>
    </dgm:pt>
    <dgm:pt modelId="{F45B71B2-D96A-4D34-ABA9-0574E182E431}">
      <dgm:prSet/>
      <dgm:spPr/>
      <dgm:t>
        <a:bodyPr/>
        <a:lstStyle/>
        <a:p>
          <a:r>
            <a:rPr lang="en-US"/>
            <a:t>Use VPNs, antivirus, and firewalls</a:t>
          </a:r>
        </a:p>
      </dgm:t>
    </dgm:pt>
    <dgm:pt modelId="{1FC80466-144E-4885-85F4-8F9D34646B17}" type="parTrans" cxnId="{F62B0FFB-15FA-4D74-80A0-31334378837D}">
      <dgm:prSet/>
      <dgm:spPr/>
      <dgm:t>
        <a:bodyPr/>
        <a:lstStyle/>
        <a:p>
          <a:endParaRPr lang="en-US"/>
        </a:p>
      </dgm:t>
    </dgm:pt>
    <dgm:pt modelId="{C56CF975-6914-4CBA-B50B-1B640E97B833}" type="sibTrans" cxnId="{F62B0FFB-15FA-4D74-80A0-31334378837D}">
      <dgm:prSet/>
      <dgm:spPr/>
      <dgm:t>
        <a:bodyPr/>
        <a:lstStyle/>
        <a:p>
          <a:endParaRPr lang="en-US"/>
        </a:p>
      </dgm:t>
    </dgm:pt>
    <dgm:pt modelId="{67BE0EE2-B5A8-4DDE-8603-8F13DFBB9B60}" type="pres">
      <dgm:prSet presAssocID="{DF49C01F-760A-4BAD-A956-EC00118D0976}" presName="diagram" presStyleCnt="0">
        <dgm:presLayoutVars>
          <dgm:dir/>
          <dgm:resizeHandles val="exact"/>
        </dgm:presLayoutVars>
      </dgm:prSet>
      <dgm:spPr/>
    </dgm:pt>
    <dgm:pt modelId="{B7A8D215-E1D3-4B68-AEE8-E3C949601A2E}" type="pres">
      <dgm:prSet presAssocID="{8DA03339-E461-48F3-B2ED-F3355D36C391}" presName="node" presStyleLbl="node1" presStyleIdx="0" presStyleCnt="3">
        <dgm:presLayoutVars>
          <dgm:bulletEnabled val="1"/>
        </dgm:presLayoutVars>
      </dgm:prSet>
      <dgm:spPr/>
    </dgm:pt>
    <dgm:pt modelId="{96091041-333B-4DA0-A536-7FF48E946E5E}" type="pres">
      <dgm:prSet presAssocID="{83FCB04F-7521-4902-8C59-6C7316FB1714}" presName="sibTrans" presStyleCnt="0"/>
      <dgm:spPr/>
    </dgm:pt>
    <dgm:pt modelId="{DF975A61-2A1A-4735-AB70-E2E80E0CF50C}" type="pres">
      <dgm:prSet presAssocID="{7512C2E3-A6AB-4C92-929A-83615B941EE2}" presName="node" presStyleLbl="node1" presStyleIdx="1" presStyleCnt="3">
        <dgm:presLayoutVars>
          <dgm:bulletEnabled val="1"/>
        </dgm:presLayoutVars>
      </dgm:prSet>
      <dgm:spPr/>
    </dgm:pt>
    <dgm:pt modelId="{1BF87AF0-3C36-41AC-ADD2-2403FF9670F9}" type="pres">
      <dgm:prSet presAssocID="{E20A3CF3-2DC2-4C90-B425-3376D45855E7}" presName="sibTrans" presStyleCnt="0"/>
      <dgm:spPr/>
    </dgm:pt>
    <dgm:pt modelId="{832EF1BF-5FE5-4A7C-8203-D6413BFC5991}" type="pres">
      <dgm:prSet presAssocID="{F45B71B2-D96A-4D34-ABA9-0574E182E431}" presName="node" presStyleLbl="node1" presStyleIdx="2" presStyleCnt="3">
        <dgm:presLayoutVars>
          <dgm:bulletEnabled val="1"/>
        </dgm:presLayoutVars>
      </dgm:prSet>
      <dgm:spPr/>
    </dgm:pt>
  </dgm:ptLst>
  <dgm:cxnLst>
    <dgm:cxn modelId="{7B52F503-F490-4062-8F27-37FF8CE244FF}" type="presOf" srcId="{F45B71B2-D96A-4D34-ABA9-0574E182E431}" destId="{832EF1BF-5FE5-4A7C-8203-D6413BFC5991}" srcOrd="0" destOrd="0" presId="urn:microsoft.com/office/officeart/2005/8/layout/default"/>
    <dgm:cxn modelId="{2EB2670A-0189-4776-9050-1F7BA4EB1428}" type="presOf" srcId="{DF49C01F-760A-4BAD-A956-EC00118D0976}" destId="{67BE0EE2-B5A8-4DDE-8603-8F13DFBB9B60}" srcOrd="0" destOrd="0" presId="urn:microsoft.com/office/officeart/2005/8/layout/default"/>
    <dgm:cxn modelId="{71914964-1806-46EF-A581-5131F94CCF4C}" srcId="{DF49C01F-760A-4BAD-A956-EC00118D0976}" destId="{7512C2E3-A6AB-4C92-929A-83615B941EE2}" srcOrd="1" destOrd="0" parTransId="{20135AFF-184F-4A0B-9841-267D00680404}" sibTransId="{E20A3CF3-2DC2-4C90-B425-3376D45855E7}"/>
    <dgm:cxn modelId="{299C3054-E027-40E6-9E23-DF20350D814F}" type="presOf" srcId="{7512C2E3-A6AB-4C92-929A-83615B941EE2}" destId="{DF975A61-2A1A-4735-AB70-E2E80E0CF50C}" srcOrd="0" destOrd="0" presId="urn:microsoft.com/office/officeart/2005/8/layout/default"/>
    <dgm:cxn modelId="{AEB2857E-0E2C-43A3-8B4F-AE0AB931D56E}" srcId="{DF49C01F-760A-4BAD-A956-EC00118D0976}" destId="{8DA03339-E461-48F3-B2ED-F3355D36C391}" srcOrd="0" destOrd="0" parTransId="{0F0C953E-3CC2-4007-A48B-ED062A274D4A}" sibTransId="{83FCB04F-7521-4902-8C59-6C7316FB1714}"/>
    <dgm:cxn modelId="{1CA7F3C2-572C-41FE-A18F-C8E6FCE9B12B}" type="presOf" srcId="{8DA03339-E461-48F3-B2ED-F3355D36C391}" destId="{B7A8D215-E1D3-4B68-AEE8-E3C949601A2E}" srcOrd="0" destOrd="0" presId="urn:microsoft.com/office/officeart/2005/8/layout/default"/>
    <dgm:cxn modelId="{F62B0FFB-15FA-4D74-80A0-31334378837D}" srcId="{DF49C01F-760A-4BAD-A956-EC00118D0976}" destId="{F45B71B2-D96A-4D34-ABA9-0574E182E431}" srcOrd="2" destOrd="0" parTransId="{1FC80466-144E-4885-85F4-8F9D34646B17}" sibTransId="{C56CF975-6914-4CBA-B50B-1B640E97B833}"/>
    <dgm:cxn modelId="{402AEC80-F559-4BEA-8F86-42A8EFFE56AC}" type="presParOf" srcId="{67BE0EE2-B5A8-4DDE-8603-8F13DFBB9B60}" destId="{B7A8D215-E1D3-4B68-AEE8-E3C949601A2E}" srcOrd="0" destOrd="0" presId="urn:microsoft.com/office/officeart/2005/8/layout/default"/>
    <dgm:cxn modelId="{3183EF30-B8F8-4B5F-B3F2-A2F59258CEB6}" type="presParOf" srcId="{67BE0EE2-B5A8-4DDE-8603-8F13DFBB9B60}" destId="{96091041-333B-4DA0-A536-7FF48E946E5E}" srcOrd="1" destOrd="0" presId="urn:microsoft.com/office/officeart/2005/8/layout/default"/>
    <dgm:cxn modelId="{1DBC35B9-76E2-4210-B34B-B6C21CC490EA}" type="presParOf" srcId="{67BE0EE2-B5A8-4DDE-8603-8F13DFBB9B60}" destId="{DF975A61-2A1A-4735-AB70-E2E80E0CF50C}" srcOrd="2" destOrd="0" presId="urn:microsoft.com/office/officeart/2005/8/layout/default"/>
    <dgm:cxn modelId="{17763F8D-7435-4CC4-9EB7-A95F45D71971}" type="presParOf" srcId="{67BE0EE2-B5A8-4DDE-8603-8F13DFBB9B60}" destId="{1BF87AF0-3C36-41AC-ADD2-2403FF9670F9}" srcOrd="3" destOrd="0" presId="urn:microsoft.com/office/officeart/2005/8/layout/default"/>
    <dgm:cxn modelId="{73632F19-B8DB-49D4-AF74-DF648ABCF8A9}" type="presParOf" srcId="{67BE0EE2-B5A8-4DDE-8603-8F13DFBB9B60}" destId="{832EF1BF-5FE5-4A7C-8203-D6413BFC599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A609BE-8109-4504-AFCB-6B0BC898E5A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C79C34-D74B-4D9E-AF5F-4ACD9F16E8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“Set up a source code protection policy... including secure coding practices” (Berecki, 2022).</a:t>
          </a:r>
        </a:p>
      </dgm:t>
    </dgm:pt>
    <dgm:pt modelId="{771FBCD3-6BC6-43A6-A8DB-CA41493DCD10}" type="parTrans" cxnId="{90B84D9C-2523-4DA6-B8AB-A7C023A11D45}">
      <dgm:prSet/>
      <dgm:spPr/>
      <dgm:t>
        <a:bodyPr/>
        <a:lstStyle/>
        <a:p>
          <a:endParaRPr lang="en-US"/>
        </a:p>
      </dgm:t>
    </dgm:pt>
    <dgm:pt modelId="{AA28CDE6-428F-4CF5-B8D3-B4243908BAFE}" type="sibTrans" cxnId="{90B84D9C-2523-4DA6-B8AB-A7C023A11D45}">
      <dgm:prSet/>
      <dgm:spPr/>
      <dgm:t>
        <a:bodyPr/>
        <a:lstStyle/>
        <a:p>
          <a:endParaRPr lang="en-US"/>
        </a:p>
      </dgm:t>
    </dgm:pt>
    <dgm:pt modelId="{52B9CF7E-805B-4165-BAAC-DD37E5A4E0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Include training and documentation</a:t>
          </a:r>
        </a:p>
      </dgm:t>
    </dgm:pt>
    <dgm:pt modelId="{F1B3337F-9D2B-42F1-8AFB-7E3B13D6406F}" type="parTrans" cxnId="{44149D4E-94BB-40A1-91B0-6C0AAEACF321}">
      <dgm:prSet/>
      <dgm:spPr/>
      <dgm:t>
        <a:bodyPr/>
        <a:lstStyle/>
        <a:p>
          <a:endParaRPr lang="en-US"/>
        </a:p>
      </dgm:t>
    </dgm:pt>
    <dgm:pt modelId="{71D22970-9CA9-484F-8CE7-4FB400C4FE8D}" type="sibTrans" cxnId="{44149D4E-94BB-40A1-91B0-6C0AAEACF321}">
      <dgm:prSet/>
      <dgm:spPr/>
      <dgm:t>
        <a:bodyPr/>
        <a:lstStyle/>
        <a:p>
          <a:endParaRPr lang="en-US"/>
        </a:p>
      </dgm:t>
    </dgm:pt>
    <dgm:pt modelId="{BA9D1835-BE3E-4522-95E2-68338DC593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Review access controls post-breach</a:t>
          </a:r>
        </a:p>
      </dgm:t>
    </dgm:pt>
    <dgm:pt modelId="{0DBC64D9-E857-4278-95C4-FBEED1C037EE}" type="parTrans" cxnId="{DB00DAAF-A6A6-4DE3-ACAA-55B40B1114F1}">
      <dgm:prSet/>
      <dgm:spPr/>
      <dgm:t>
        <a:bodyPr/>
        <a:lstStyle/>
        <a:p>
          <a:endParaRPr lang="en-US"/>
        </a:p>
      </dgm:t>
    </dgm:pt>
    <dgm:pt modelId="{199643A9-BA8E-42FD-822C-55B8A2AB9B52}" type="sibTrans" cxnId="{DB00DAAF-A6A6-4DE3-ACAA-55B40B1114F1}">
      <dgm:prSet/>
      <dgm:spPr/>
      <dgm:t>
        <a:bodyPr/>
        <a:lstStyle/>
        <a:p>
          <a:endParaRPr lang="en-US"/>
        </a:p>
      </dgm:t>
    </dgm:pt>
    <dgm:pt modelId="{37C924D3-99A1-4EFB-AF2E-C6395286B1B9}" type="pres">
      <dgm:prSet presAssocID="{C0A609BE-8109-4504-AFCB-6B0BC898E5AC}" presName="root" presStyleCnt="0">
        <dgm:presLayoutVars>
          <dgm:dir/>
          <dgm:resizeHandles val="exact"/>
        </dgm:presLayoutVars>
      </dgm:prSet>
      <dgm:spPr/>
    </dgm:pt>
    <dgm:pt modelId="{4B921B78-A6A7-4B8A-B78D-9479D4A314EC}" type="pres">
      <dgm:prSet presAssocID="{12C79C34-D74B-4D9E-AF5F-4ACD9F16E88A}" presName="compNode" presStyleCnt="0"/>
      <dgm:spPr/>
    </dgm:pt>
    <dgm:pt modelId="{0C89C53F-F3A6-4C91-AC16-F3B22B40A196}" type="pres">
      <dgm:prSet presAssocID="{12C79C34-D74B-4D9E-AF5F-4ACD9F16E8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3E9F661-3F9C-4FA0-BBB6-A5F64F97187D}" type="pres">
      <dgm:prSet presAssocID="{12C79C34-D74B-4D9E-AF5F-4ACD9F16E88A}" presName="spaceRect" presStyleCnt="0"/>
      <dgm:spPr/>
    </dgm:pt>
    <dgm:pt modelId="{5DB2A433-6BEA-4CDF-AF23-84F5B6429C5A}" type="pres">
      <dgm:prSet presAssocID="{12C79C34-D74B-4D9E-AF5F-4ACD9F16E88A}" presName="textRect" presStyleLbl="revTx" presStyleIdx="0" presStyleCnt="3">
        <dgm:presLayoutVars>
          <dgm:chMax val="1"/>
          <dgm:chPref val="1"/>
        </dgm:presLayoutVars>
      </dgm:prSet>
      <dgm:spPr/>
    </dgm:pt>
    <dgm:pt modelId="{E55CA6B8-5225-44F9-9380-0B8F446D3E9A}" type="pres">
      <dgm:prSet presAssocID="{AA28CDE6-428F-4CF5-B8D3-B4243908BAFE}" presName="sibTrans" presStyleCnt="0"/>
      <dgm:spPr/>
    </dgm:pt>
    <dgm:pt modelId="{9F59DD7F-2D0C-4131-90E0-F24050EB261D}" type="pres">
      <dgm:prSet presAssocID="{52B9CF7E-805B-4165-BAAC-DD37E5A4E057}" presName="compNode" presStyleCnt="0"/>
      <dgm:spPr/>
    </dgm:pt>
    <dgm:pt modelId="{5C8EFCD0-99CA-48E1-A728-69E303A614CC}" type="pres">
      <dgm:prSet presAssocID="{52B9CF7E-805B-4165-BAAC-DD37E5A4E0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9481E29-45BF-4BB3-8313-85B9D00152CB}" type="pres">
      <dgm:prSet presAssocID="{52B9CF7E-805B-4165-BAAC-DD37E5A4E057}" presName="spaceRect" presStyleCnt="0"/>
      <dgm:spPr/>
    </dgm:pt>
    <dgm:pt modelId="{EBAD47C5-2053-48D3-B437-B27FC1357CCF}" type="pres">
      <dgm:prSet presAssocID="{52B9CF7E-805B-4165-BAAC-DD37E5A4E057}" presName="textRect" presStyleLbl="revTx" presStyleIdx="1" presStyleCnt="3">
        <dgm:presLayoutVars>
          <dgm:chMax val="1"/>
          <dgm:chPref val="1"/>
        </dgm:presLayoutVars>
      </dgm:prSet>
      <dgm:spPr/>
    </dgm:pt>
    <dgm:pt modelId="{4B04BACF-1B25-423E-92BC-9C69EC6ADAB1}" type="pres">
      <dgm:prSet presAssocID="{71D22970-9CA9-484F-8CE7-4FB400C4FE8D}" presName="sibTrans" presStyleCnt="0"/>
      <dgm:spPr/>
    </dgm:pt>
    <dgm:pt modelId="{D8E0696B-0D19-449A-BA31-35D2B6D69617}" type="pres">
      <dgm:prSet presAssocID="{BA9D1835-BE3E-4522-95E2-68338DC593CE}" presName="compNode" presStyleCnt="0"/>
      <dgm:spPr/>
    </dgm:pt>
    <dgm:pt modelId="{135524DB-D2AC-41E2-A741-BBFFC626F1F5}" type="pres">
      <dgm:prSet presAssocID="{BA9D1835-BE3E-4522-95E2-68338DC593C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CA9CEFB2-7255-462F-A11B-0E5F08D6DBC8}" type="pres">
      <dgm:prSet presAssocID="{BA9D1835-BE3E-4522-95E2-68338DC593CE}" presName="spaceRect" presStyleCnt="0"/>
      <dgm:spPr/>
    </dgm:pt>
    <dgm:pt modelId="{43ECAF7C-1A93-43C2-8E51-F7FC9D13181C}" type="pres">
      <dgm:prSet presAssocID="{BA9D1835-BE3E-4522-95E2-68338DC593C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D2EB901-DD19-4A56-B4E3-09619B2A9FFF}" type="presOf" srcId="{C0A609BE-8109-4504-AFCB-6B0BC898E5AC}" destId="{37C924D3-99A1-4EFB-AF2E-C6395286B1B9}" srcOrd="0" destOrd="0" presId="urn:microsoft.com/office/officeart/2018/2/layout/IconLabelList"/>
    <dgm:cxn modelId="{B5313A18-CA93-4349-9DFD-8C53D47B543C}" type="presOf" srcId="{BA9D1835-BE3E-4522-95E2-68338DC593CE}" destId="{43ECAF7C-1A93-43C2-8E51-F7FC9D13181C}" srcOrd="0" destOrd="0" presId="urn:microsoft.com/office/officeart/2018/2/layout/IconLabelList"/>
    <dgm:cxn modelId="{44149D4E-94BB-40A1-91B0-6C0AAEACF321}" srcId="{C0A609BE-8109-4504-AFCB-6B0BC898E5AC}" destId="{52B9CF7E-805B-4165-BAAC-DD37E5A4E057}" srcOrd="1" destOrd="0" parTransId="{F1B3337F-9D2B-42F1-8AFB-7E3B13D6406F}" sibTransId="{71D22970-9CA9-484F-8CE7-4FB400C4FE8D}"/>
    <dgm:cxn modelId="{90B84D9C-2523-4DA6-B8AB-A7C023A11D45}" srcId="{C0A609BE-8109-4504-AFCB-6B0BC898E5AC}" destId="{12C79C34-D74B-4D9E-AF5F-4ACD9F16E88A}" srcOrd="0" destOrd="0" parTransId="{771FBCD3-6BC6-43A6-A8DB-CA41493DCD10}" sibTransId="{AA28CDE6-428F-4CF5-B8D3-B4243908BAFE}"/>
    <dgm:cxn modelId="{71E6D3A8-1C35-4F24-88DD-07619EE3722F}" type="presOf" srcId="{52B9CF7E-805B-4165-BAAC-DD37E5A4E057}" destId="{EBAD47C5-2053-48D3-B437-B27FC1357CCF}" srcOrd="0" destOrd="0" presId="urn:microsoft.com/office/officeart/2018/2/layout/IconLabelList"/>
    <dgm:cxn modelId="{DB00DAAF-A6A6-4DE3-ACAA-55B40B1114F1}" srcId="{C0A609BE-8109-4504-AFCB-6B0BC898E5AC}" destId="{BA9D1835-BE3E-4522-95E2-68338DC593CE}" srcOrd="2" destOrd="0" parTransId="{0DBC64D9-E857-4278-95C4-FBEED1C037EE}" sibTransId="{199643A9-BA8E-42FD-822C-55B8A2AB9B52}"/>
    <dgm:cxn modelId="{FE155DD3-9131-42A6-8439-BA2A3605E57F}" type="presOf" srcId="{12C79C34-D74B-4D9E-AF5F-4ACD9F16E88A}" destId="{5DB2A433-6BEA-4CDF-AF23-84F5B6429C5A}" srcOrd="0" destOrd="0" presId="urn:microsoft.com/office/officeart/2018/2/layout/IconLabelList"/>
    <dgm:cxn modelId="{A3E579FD-CD2E-42E0-88D8-57EC0EFE1050}" type="presParOf" srcId="{37C924D3-99A1-4EFB-AF2E-C6395286B1B9}" destId="{4B921B78-A6A7-4B8A-B78D-9479D4A314EC}" srcOrd="0" destOrd="0" presId="urn:microsoft.com/office/officeart/2018/2/layout/IconLabelList"/>
    <dgm:cxn modelId="{32C55A53-3AFA-4454-B007-80992763DD34}" type="presParOf" srcId="{4B921B78-A6A7-4B8A-B78D-9479D4A314EC}" destId="{0C89C53F-F3A6-4C91-AC16-F3B22B40A196}" srcOrd="0" destOrd="0" presId="urn:microsoft.com/office/officeart/2018/2/layout/IconLabelList"/>
    <dgm:cxn modelId="{E3C81996-25AC-451E-BD54-F22FB67BAB2F}" type="presParOf" srcId="{4B921B78-A6A7-4B8A-B78D-9479D4A314EC}" destId="{13E9F661-3F9C-4FA0-BBB6-A5F64F97187D}" srcOrd="1" destOrd="0" presId="urn:microsoft.com/office/officeart/2018/2/layout/IconLabelList"/>
    <dgm:cxn modelId="{769825B1-6AEF-4032-B41E-89A655CA9C12}" type="presParOf" srcId="{4B921B78-A6A7-4B8A-B78D-9479D4A314EC}" destId="{5DB2A433-6BEA-4CDF-AF23-84F5B6429C5A}" srcOrd="2" destOrd="0" presId="urn:microsoft.com/office/officeart/2018/2/layout/IconLabelList"/>
    <dgm:cxn modelId="{7BF3BA0B-DCE4-4F8B-AE15-B7C19BAE82C5}" type="presParOf" srcId="{37C924D3-99A1-4EFB-AF2E-C6395286B1B9}" destId="{E55CA6B8-5225-44F9-9380-0B8F446D3E9A}" srcOrd="1" destOrd="0" presId="urn:microsoft.com/office/officeart/2018/2/layout/IconLabelList"/>
    <dgm:cxn modelId="{63C85D97-0F2F-43AA-8ED9-47DFCCC40EA2}" type="presParOf" srcId="{37C924D3-99A1-4EFB-AF2E-C6395286B1B9}" destId="{9F59DD7F-2D0C-4131-90E0-F24050EB261D}" srcOrd="2" destOrd="0" presId="urn:microsoft.com/office/officeart/2018/2/layout/IconLabelList"/>
    <dgm:cxn modelId="{3154D16A-1634-409C-8BCD-43258099E6DB}" type="presParOf" srcId="{9F59DD7F-2D0C-4131-90E0-F24050EB261D}" destId="{5C8EFCD0-99CA-48E1-A728-69E303A614CC}" srcOrd="0" destOrd="0" presId="urn:microsoft.com/office/officeart/2018/2/layout/IconLabelList"/>
    <dgm:cxn modelId="{490B99A9-83DC-42BB-85F3-3590277CBDD3}" type="presParOf" srcId="{9F59DD7F-2D0C-4131-90E0-F24050EB261D}" destId="{A9481E29-45BF-4BB3-8313-85B9D00152CB}" srcOrd="1" destOrd="0" presId="urn:microsoft.com/office/officeart/2018/2/layout/IconLabelList"/>
    <dgm:cxn modelId="{F867DDD2-9701-41FA-8D68-124FEEF01C03}" type="presParOf" srcId="{9F59DD7F-2D0C-4131-90E0-F24050EB261D}" destId="{EBAD47C5-2053-48D3-B437-B27FC1357CCF}" srcOrd="2" destOrd="0" presId="urn:microsoft.com/office/officeart/2018/2/layout/IconLabelList"/>
    <dgm:cxn modelId="{01B0F242-06E9-4C67-AE8E-9970C43C577A}" type="presParOf" srcId="{37C924D3-99A1-4EFB-AF2E-C6395286B1B9}" destId="{4B04BACF-1B25-423E-92BC-9C69EC6ADAB1}" srcOrd="3" destOrd="0" presId="urn:microsoft.com/office/officeart/2018/2/layout/IconLabelList"/>
    <dgm:cxn modelId="{4BD5CE34-951E-49D7-8B42-462D5E27978A}" type="presParOf" srcId="{37C924D3-99A1-4EFB-AF2E-C6395286B1B9}" destId="{D8E0696B-0D19-449A-BA31-35D2B6D69617}" srcOrd="4" destOrd="0" presId="urn:microsoft.com/office/officeart/2018/2/layout/IconLabelList"/>
    <dgm:cxn modelId="{79260426-1D83-42E2-9DD9-9E5906C1C00C}" type="presParOf" srcId="{D8E0696B-0D19-449A-BA31-35D2B6D69617}" destId="{135524DB-D2AC-41E2-A741-BBFFC626F1F5}" srcOrd="0" destOrd="0" presId="urn:microsoft.com/office/officeart/2018/2/layout/IconLabelList"/>
    <dgm:cxn modelId="{7056BC3C-E606-450E-9E46-8C898F674FD9}" type="presParOf" srcId="{D8E0696B-0D19-449A-BA31-35D2B6D69617}" destId="{CA9CEFB2-7255-462F-A11B-0E5F08D6DBC8}" srcOrd="1" destOrd="0" presId="urn:microsoft.com/office/officeart/2018/2/layout/IconLabelList"/>
    <dgm:cxn modelId="{2091FF62-121B-48AD-A64C-2B24DF5C249E}" type="presParOf" srcId="{D8E0696B-0D19-449A-BA31-35D2B6D69617}" destId="{43ECAF7C-1A93-43C2-8E51-F7FC9D1318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00D7FF-2953-4265-8E7A-654A3A7627D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264C8A-FB24-446C-B3AF-3EA24F821855}">
      <dgm:prSet/>
      <dgm:spPr/>
      <dgm:t>
        <a:bodyPr/>
        <a:lstStyle/>
        <a:p>
          <a:pPr>
            <a:defRPr cap="all"/>
          </a:pPr>
          <a:r>
            <a:rPr lang="en-US"/>
            <a:t>Git: Decentralized, low data loss risk, higher endpoint responsibility</a:t>
          </a:r>
        </a:p>
      </dgm:t>
    </dgm:pt>
    <dgm:pt modelId="{AD9295AC-2F3A-4F47-9483-439F4CD84354}" type="parTrans" cxnId="{46FD5C2C-1D9F-4B58-9384-902ACE9C987C}">
      <dgm:prSet/>
      <dgm:spPr/>
      <dgm:t>
        <a:bodyPr/>
        <a:lstStyle/>
        <a:p>
          <a:endParaRPr lang="en-US"/>
        </a:p>
      </dgm:t>
    </dgm:pt>
    <dgm:pt modelId="{3A6EF6F9-B908-472A-A782-F2E2CFB79322}" type="sibTrans" cxnId="{46FD5C2C-1D9F-4B58-9384-902ACE9C987C}">
      <dgm:prSet/>
      <dgm:spPr/>
      <dgm:t>
        <a:bodyPr/>
        <a:lstStyle/>
        <a:p>
          <a:endParaRPr lang="en-US"/>
        </a:p>
      </dgm:t>
    </dgm:pt>
    <dgm:pt modelId="{07AB0B82-3624-4F94-A037-0B8CE81A456A}">
      <dgm:prSet/>
      <dgm:spPr/>
      <dgm:t>
        <a:bodyPr/>
        <a:lstStyle/>
        <a:p>
          <a:pPr>
            <a:defRPr cap="all"/>
          </a:pPr>
          <a:r>
            <a:rPr lang="en-US"/>
            <a:t>Perforce/SVN: Centralized, granular control, single point of failure</a:t>
          </a:r>
        </a:p>
      </dgm:t>
    </dgm:pt>
    <dgm:pt modelId="{336A3B51-A3B9-44A2-A5E3-263FB6B5AA43}" type="parTrans" cxnId="{128E6031-1E81-4DC0-806D-03A4779A894C}">
      <dgm:prSet/>
      <dgm:spPr/>
      <dgm:t>
        <a:bodyPr/>
        <a:lstStyle/>
        <a:p>
          <a:endParaRPr lang="en-US"/>
        </a:p>
      </dgm:t>
    </dgm:pt>
    <dgm:pt modelId="{D94E3A77-65D3-4F8A-8F0E-ED90DC38F869}" type="sibTrans" cxnId="{128E6031-1E81-4DC0-806D-03A4779A894C}">
      <dgm:prSet/>
      <dgm:spPr/>
      <dgm:t>
        <a:bodyPr/>
        <a:lstStyle/>
        <a:p>
          <a:endParaRPr lang="en-US"/>
        </a:p>
      </dgm:t>
    </dgm:pt>
    <dgm:pt modelId="{09E79609-C907-4A7C-97ED-82117E2A9A0B}">
      <dgm:prSet/>
      <dgm:spPr/>
      <dgm:t>
        <a:bodyPr/>
        <a:lstStyle/>
        <a:p>
          <a:pPr>
            <a:defRPr cap="all"/>
          </a:pPr>
          <a:r>
            <a:rPr lang="en-US"/>
            <a:t>Choose based on needs and apply best practices (Fernandes, 2025)</a:t>
          </a:r>
        </a:p>
      </dgm:t>
    </dgm:pt>
    <dgm:pt modelId="{FC13E2BF-E1F4-46C8-9783-43C14FE4C8C8}" type="parTrans" cxnId="{F5B77A25-9EEC-46A5-A0F9-25F4F628FAEA}">
      <dgm:prSet/>
      <dgm:spPr/>
      <dgm:t>
        <a:bodyPr/>
        <a:lstStyle/>
        <a:p>
          <a:endParaRPr lang="en-US"/>
        </a:p>
      </dgm:t>
    </dgm:pt>
    <dgm:pt modelId="{448C9FBA-7619-4F3F-83B2-632E8B92D7B0}" type="sibTrans" cxnId="{F5B77A25-9EEC-46A5-A0F9-25F4F628FAEA}">
      <dgm:prSet/>
      <dgm:spPr/>
      <dgm:t>
        <a:bodyPr/>
        <a:lstStyle/>
        <a:p>
          <a:endParaRPr lang="en-US"/>
        </a:p>
      </dgm:t>
    </dgm:pt>
    <dgm:pt modelId="{C50BB3BD-3111-4C6B-8451-27C26F82B156}" type="pres">
      <dgm:prSet presAssocID="{6300D7FF-2953-4265-8E7A-654A3A7627DF}" presName="root" presStyleCnt="0">
        <dgm:presLayoutVars>
          <dgm:dir/>
          <dgm:resizeHandles val="exact"/>
        </dgm:presLayoutVars>
      </dgm:prSet>
      <dgm:spPr/>
    </dgm:pt>
    <dgm:pt modelId="{495A909C-F0CE-44D1-A0EC-358C2CEBD2AD}" type="pres">
      <dgm:prSet presAssocID="{5B264C8A-FB24-446C-B3AF-3EA24F821855}" presName="compNode" presStyleCnt="0"/>
      <dgm:spPr/>
    </dgm:pt>
    <dgm:pt modelId="{EC71A2E5-1E93-4950-9883-308955ED36A4}" type="pres">
      <dgm:prSet presAssocID="{5B264C8A-FB24-446C-B3AF-3EA24F821855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30AD870-D96D-424C-9FBE-E4DD12F24899}" type="pres">
      <dgm:prSet presAssocID="{5B264C8A-FB24-446C-B3AF-3EA24F82185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1C38684-AE5E-4F14-A294-F5BB16A5BFCB}" type="pres">
      <dgm:prSet presAssocID="{5B264C8A-FB24-446C-B3AF-3EA24F821855}" presName="spaceRect" presStyleCnt="0"/>
      <dgm:spPr/>
    </dgm:pt>
    <dgm:pt modelId="{6BA25B90-9CAC-430F-8A29-C7CF24EFDFC6}" type="pres">
      <dgm:prSet presAssocID="{5B264C8A-FB24-446C-B3AF-3EA24F821855}" presName="textRect" presStyleLbl="revTx" presStyleIdx="0" presStyleCnt="3">
        <dgm:presLayoutVars>
          <dgm:chMax val="1"/>
          <dgm:chPref val="1"/>
        </dgm:presLayoutVars>
      </dgm:prSet>
      <dgm:spPr/>
    </dgm:pt>
    <dgm:pt modelId="{5F616799-F102-4129-9473-2F48688B4DE4}" type="pres">
      <dgm:prSet presAssocID="{3A6EF6F9-B908-472A-A782-F2E2CFB79322}" presName="sibTrans" presStyleCnt="0"/>
      <dgm:spPr/>
    </dgm:pt>
    <dgm:pt modelId="{2EB1373E-6F28-4211-96DB-951C3BFABC5D}" type="pres">
      <dgm:prSet presAssocID="{07AB0B82-3624-4F94-A037-0B8CE81A456A}" presName="compNode" presStyleCnt="0"/>
      <dgm:spPr/>
    </dgm:pt>
    <dgm:pt modelId="{EBF30C84-C34D-4CA3-8967-3208C5A2C636}" type="pres">
      <dgm:prSet presAssocID="{07AB0B82-3624-4F94-A037-0B8CE81A456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1FE15FB-8D5C-4A3F-995D-E91248A22195}" type="pres">
      <dgm:prSet presAssocID="{07AB0B82-3624-4F94-A037-0B8CE81A456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38C0543-FA72-4239-A18F-42BEBBB5A103}" type="pres">
      <dgm:prSet presAssocID="{07AB0B82-3624-4F94-A037-0B8CE81A456A}" presName="spaceRect" presStyleCnt="0"/>
      <dgm:spPr/>
    </dgm:pt>
    <dgm:pt modelId="{B9C755E7-CC05-487B-9A75-3D1DE5021020}" type="pres">
      <dgm:prSet presAssocID="{07AB0B82-3624-4F94-A037-0B8CE81A456A}" presName="textRect" presStyleLbl="revTx" presStyleIdx="1" presStyleCnt="3">
        <dgm:presLayoutVars>
          <dgm:chMax val="1"/>
          <dgm:chPref val="1"/>
        </dgm:presLayoutVars>
      </dgm:prSet>
      <dgm:spPr/>
    </dgm:pt>
    <dgm:pt modelId="{88160AF1-9EB1-4F4C-A45E-7FBFEB8BA09D}" type="pres">
      <dgm:prSet presAssocID="{D94E3A77-65D3-4F8A-8F0E-ED90DC38F869}" presName="sibTrans" presStyleCnt="0"/>
      <dgm:spPr/>
    </dgm:pt>
    <dgm:pt modelId="{EF714552-574B-49B0-AE00-770CD69767C7}" type="pres">
      <dgm:prSet presAssocID="{09E79609-C907-4A7C-97ED-82117E2A9A0B}" presName="compNode" presStyleCnt="0"/>
      <dgm:spPr/>
    </dgm:pt>
    <dgm:pt modelId="{BC7326A5-943F-4F62-835B-BB79DCA7CB11}" type="pres">
      <dgm:prSet presAssocID="{09E79609-C907-4A7C-97ED-82117E2A9A0B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6CFE0622-B837-4C84-A78D-52FD050C6089}" type="pres">
      <dgm:prSet presAssocID="{09E79609-C907-4A7C-97ED-82117E2A9A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ap"/>
        </a:ext>
      </dgm:extLst>
    </dgm:pt>
    <dgm:pt modelId="{850D168B-81F9-43B4-AA9D-1CFF5FE4CA9C}" type="pres">
      <dgm:prSet presAssocID="{09E79609-C907-4A7C-97ED-82117E2A9A0B}" presName="spaceRect" presStyleCnt="0"/>
      <dgm:spPr/>
    </dgm:pt>
    <dgm:pt modelId="{FDE1B5EB-B942-4744-B5CA-EF02E110B003}" type="pres">
      <dgm:prSet presAssocID="{09E79609-C907-4A7C-97ED-82117E2A9A0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5B77A25-9EEC-46A5-A0F9-25F4F628FAEA}" srcId="{6300D7FF-2953-4265-8E7A-654A3A7627DF}" destId="{09E79609-C907-4A7C-97ED-82117E2A9A0B}" srcOrd="2" destOrd="0" parTransId="{FC13E2BF-E1F4-46C8-9783-43C14FE4C8C8}" sibTransId="{448C9FBA-7619-4F3F-83B2-632E8B92D7B0}"/>
    <dgm:cxn modelId="{46FD5C2C-1D9F-4B58-9384-902ACE9C987C}" srcId="{6300D7FF-2953-4265-8E7A-654A3A7627DF}" destId="{5B264C8A-FB24-446C-B3AF-3EA24F821855}" srcOrd="0" destOrd="0" parTransId="{AD9295AC-2F3A-4F47-9483-439F4CD84354}" sibTransId="{3A6EF6F9-B908-472A-A782-F2E2CFB79322}"/>
    <dgm:cxn modelId="{128E6031-1E81-4DC0-806D-03A4779A894C}" srcId="{6300D7FF-2953-4265-8E7A-654A3A7627DF}" destId="{07AB0B82-3624-4F94-A037-0B8CE81A456A}" srcOrd="1" destOrd="0" parTransId="{336A3B51-A3B9-44A2-A5E3-263FB6B5AA43}" sibTransId="{D94E3A77-65D3-4F8A-8F0E-ED90DC38F869}"/>
    <dgm:cxn modelId="{4A262633-6F0E-4691-A6B4-9A276CCAB008}" type="presOf" srcId="{6300D7FF-2953-4265-8E7A-654A3A7627DF}" destId="{C50BB3BD-3111-4C6B-8451-27C26F82B156}" srcOrd="0" destOrd="0" presId="urn:microsoft.com/office/officeart/2018/5/layout/IconLeafLabelList"/>
    <dgm:cxn modelId="{819DE96B-0861-4D36-B588-3C1D69E8BF88}" type="presOf" srcId="{07AB0B82-3624-4F94-A037-0B8CE81A456A}" destId="{B9C755E7-CC05-487B-9A75-3D1DE5021020}" srcOrd="0" destOrd="0" presId="urn:microsoft.com/office/officeart/2018/5/layout/IconLeafLabelList"/>
    <dgm:cxn modelId="{23AFB4B5-2BB8-4FAA-9C86-ED23EB162547}" type="presOf" srcId="{09E79609-C907-4A7C-97ED-82117E2A9A0B}" destId="{FDE1B5EB-B942-4744-B5CA-EF02E110B003}" srcOrd="0" destOrd="0" presId="urn:microsoft.com/office/officeart/2018/5/layout/IconLeafLabelList"/>
    <dgm:cxn modelId="{C0BE42FC-C4D6-4A07-8780-998B7C1B45E1}" type="presOf" srcId="{5B264C8A-FB24-446C-B3AF-3EA24F821855}" destId="{6BA25B90-9CAC-430F-8A29-C7CF24EFDFC6}" srcOrd="0" destOrd="0" presId="urn:microsoft.com/office/officeart/2018/5/layout/IconLeafLabelList"/>
    <dgm:cxn modelId="{C8FD3D56-0503-4675-AB5A-4DF386CB3C01}" type="presParOf" srcId="{C50BB3BD-3111-4C6B-8451-27C26F82B156}" destId="{495A909C-F0CE-44D1-A0EC-358C2CEBD2AD}" srcOrd="0" destOrd="0" presId="urn:microsoft.com/office/officeart/2018/5/layout/IconLeafLabelList"/>
    <dgm:cxn modelId="{C02CA304-CBB3-46A2-8747-55251938E56A}" type="presParOf" srcId="{495A909C-F0CE-44D1-A0EC-358C2CEBD2AD}" destId="{EC71A2E5-1E93-4950-9883-308955ED36A4}" srcOrd="0" destOrd="0" presId="urn:microsoft.com/office/officeart/2018/5/layout/IconLeafLabelList"/>
    <dgm:cxn modelId="{D817BC8E-B2D2-4D53-9EE5-C9DABD9DC595}" type="presParOf" srcId="{495A909C-F0CE-44D1-A0EC-358C2CEBD2AD}" destId="{630AD870-D96D-424C-9FBE-E4DD12F24899}" srcOrd="1" destOrd="0" presId="urn:microsoft.com/office/officeart/2018/5/layout/IconLeafLabelList"/>
    <dgm:cxn modelId="{EA3754AF-7A52-44FA-9E94-38F89E6A9CC3}" type="presParOf" srcId="{495A909C-F0CE-44D1-A0EC-358C2CEBD2AD}" destId="{E1C38684-AE5E-4F14-A294-F5BB16A5BFCB}" srcOrd="2" destOrd="0" presId="urn:microsoft.com/office/officeart/2018/5/layout/IconLeafLabelList"/>
    <dgm:cxn modelId="{BBFAB570-E014-4D3D-9749-F8CD0FF90106}" type="presParOf" srcId="{495A909C-F0CE-44D1-A0EC-358C2CEBD2AD}" destId="{6BA25B90-9CAC-430F-8A29-C7CF24EFDFC6}" srcOrd="3" destOrd="0" presId="urn:microsoft.com/office/officeart/2018/5/layout/IconLeafLabelList"/>
    <dgm:cxn modelId="{5863F157-0991-4CCB-AFA2-38FAA1417D4D}" type="presParOf" srcId="{C50BB3BD-3111-4C6B-8451-27C26F82B156}" destId="{5F616799-F102-4129-9473-2F48688B4DE4}" srcOrd="1" destOrd="0" presId="urn:microsoft.com/office/officeart/2018/5/layout/IconLeafLabelList"/>
    <dgm:cxn modelId="{4891909E-3CB6-4E61-8DC2-780D2705524F}" type="presParOf" srcId="{C50BB3BD-3111-4C6B-8451-27C26F82B156}" destId="{2EB1373E-6F28-4211-96DB-951C3BFABC5D}" srcOrd="2" destOrd="0" presId="urn:microsoft.com/office/officeart/2018/5/layout/IconLeafLabelList"/>
    <dgm:cxn modelId="{80FC2D78-5DC4-4744-9C33-EB7C0503F0D2}" type="presParOf" srcId="{2EB1373E-6F28-4211-96DB-951C3BFABC5D}" destId="{EBF30C84-C34D-4CA3-8967-3208C5A2C636}" srcOrd="0" destOrd="0" presId="urn:microsoft.com/office/officeart/2018/5/layout/IconLeafLabelList"/>
    <dgm:cxn modelId="{8BAF038B-8127-414D-BF07-BC53DC8D5697}" type="presParOf" srcId="{2EB1373E-6F28-4211-96DB-951C3BFABC5D}" destId="{91FE15FB-8D5C-4A3F-995D-E91248A22195}" srcOrd="1" destOrd="0" presId="urn:microsoft.com/office/officeart/2018/5/layout/IconLeafLabelList"/>
    <dgm:cxn modelId="{84F76E48-70D8-4637-9354-9713B0EEB5FB}" type="presParOf" srcId="{2EB1373E-6F28-4211-96DB-951C3BFABC5D}" destId="{138C0543-FA72-4239-A18F-42BEBBB5A103}" srcOrd="2" destOrd="0" presId="urn:microsoft.com/office/officeart/2018/5/layout/IconLeafLabelList"/>
    <dgm:cxn modelId="{FC2E4E65-20CA-4253-AC88-BB2831A5EBEE}" type="presParOf" srcId="{2EB1373E-6F28-4211-96DB-951C3BFABC5D}" destId="{B9C755E7-CC05-487B-9A75-3D1DE5021020}" srcOrd="3" destOrd="0" presId="urn:microsoft.com/office/officeart/2018/5/layout/IconLeafLabelList"/>
    <dgm:cxn modelId="{C1785237-0870-4B30-9E19-E00CDF27E9ED}" type="presParOf" srcId="{C50BB3BD-3111-4C6B-8451-27C26F82B156}" destId="{88160AF1-9EB1-4F4C-A45E-7FBFEB8BA09D}" srcOrd="3" destOrd="0" presId="urn:microsoft.com/office/officeart/2018/5/layout/IconLeafLabelList"/>
    <dgm:cxn modelId="{435A1CD9-7E20-4570-B0BA-882579A68AC9}" type="presParOf" srcId="{C50BB3BD-3111-4C6B-8451-27C26F82B156}" destId="{EF714552-574B-49B0-AE00-770CD69767C7}" srcOrd="4" destOrd="0" presId="urn:microsoft.com/office/officeart/2018/5/layout/IconLeafLabelList"/>
    <dgm:cxn modelId="{E410674A-E2C2-424C-A147-8CC87BF50F16}" type="presParOf" srcId="{EF714552-574B-49B0-AE00-770CD69767C7}" destId="{BC7326A5-943F-4F62-835B-BB79DCA7CB11}" srcOrd="0" destOrd="0" presId="urn:microsoft.com/office/officeart/2018/5/layout/IconLeafLabelList"/>
    <dgm:cxn modelId="{A49A2660-57DC-4AB6-A84B-89C7FB002C3C}" type="presParOf" srcId="{EF714552-574B-49B0-AE00-770CD69767C7}" destId="{6CFE0622-B837-4C84-A78D-52FD050C6089}" srcOrd="1" destOrd="0" presId="urn:microsoft.com/office/officeart/2018/5/layout/IconLeafLabelList"/>
    <dgm:cxn modelId="{E35D9DF3-2FB9-45AB-940A-C4797840F3FF}" type="presParOf" srcId="{EF714552-574B-49B0-AE00-770CD69767C7}" destId="{850D168B-81F9-43B4-AA9D-1CFF5FE4CA9C}" srcOrd="2" destOrd="0" presId="urn:microsoft.com/office/officeart/2018/5/layout/IconLeafLabelList"/>
    <dgm:cxn modelId="{9AC86F6D-9B62-46D1-B1AD-B475F22D3E8A}" type="presParOf" srcId="{EF714552-574B-49B0-AE00-770CD69767C7}" destId="{FDE1B5EB-B942-4744-B5CA-EF02E110B00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A0A4F-B1A5-4BFE-8FBF-9321512A1F2A}">
      <dsp:nvSpPr>
        <dsp:cNvPr id="0" name=""/>
        <dsp:cNvSpPr/>
      </dsp:nvSpPr>
      <dsp:spPr>
        <a:xfrm>
          <a:off x="483048" y="587510"/>
          <a:ext cx="1372500" cy="1372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05D65-3C3E-476A-9AE1-35FEC179614C}">
      <dsp:nvSpPr>
        <dsp:cNvPr id="0" name=""/>
        <dsp:cNvSpPr/>
      </dsp:nvSpPr>
      <dsp:spPr>
        <a:xfrm>
          <a:off x="775548" y="880010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66EA3-15F1-45AA-AB0B-907C25626BAD}">
      <dsp:nvSpPr>
        <dsp:cNvPr id="0" name=""/>
        <dsp:cNvSpPr/>
      </dsp:nvSpPr>
      <dsp:spPr>
        <a:xfrm>
          <a:off x="44298" y="238751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“Limiting user access... is crucial to prevent unauthorized changes and leaks” (Fernandes, 2025).</a:t>
          </a:r>
        </a:p>
      </dsp:txBody>
      <dsp:txXfrm>
        <a:off x="44298" y="2387510"/>
        <a:ext cx="2250000" cy="720000"/>
      </dsp:txXfrm>
    </dsp:sp>
    <dsp:sp modelId="{8FA15924-A297-4D52-91E9-ABB1F8CADA59}">
      <dsp:nvSpPr>
        <dsp:cNvPr id="0" name=""/>
        <dsp:cNvSpPr/>
      </dsp:nvSpPr>
      <dsp:spPr>
        <a:xfrm>
          <a:off x="3126798" y="587510"/>
          <a:ext cx="1372500" cy="1372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72826-C410-4FA3-8B83-EF810E47E25C}">
      <dsp:nvSpPr>
        <dsp:cNvPr id="0" name=""/>
        <dsp:cNvSpPr/>
      </dsp:nvSpPr>
      <dsp:spPr>
        <a:xfrm>
          <a:off x="3419298" y="880010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8580C-5B02-4F93-B0CD-811CB6DCC07C}">
      <dsp:nvSpPr>
        <dsp:cNvPr id="0" name=""/>
        <dsp:cNvSpPr/>
      </dsp:nvSpPr>
      <dsp:spPr>
        <a:xfrm>
          <a:off x="2688048" y="238751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Use role-based access and 2FA/MFA</a:t>
          </a:r>
        </a:p>
      </dsp:txBody>
      <dsp:txXfrm>
        <a:off x="2688048" y="2387510"/>
        <a:ext cx="2250000" cy="720000"/>
      </dsp:txXfrm>
    </dsp:sp>
    <dsp:sp modelId="{033E39CE-97A0-472E-B3C4-0E3B68D17E73}">
      <dsp:nvSpPr>
        <dsp:cNvPr id="0" name=""/>
        <dsp:cNvSpPr/>
      </dsp:nvSpPr>
      <dsp:spPr>
        <a:xfrm>
          <a:off x="5770548" y="587510"/>
          <a:ext cx="1372500" cy="1372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3CAA4-53EC-4030-89E2-84ACE4AFCC83}">
      <dsp:nvSpPr>
        <dsp:cNvPr id="0" name=""/>
        <dsp:cNvSpPr/>
      </dsp:nvSpPr>
      <dsp:spPr>
        <a:xfrm>
          <a:off x="6063048" y="880010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799C69-1423-47DE-A490-196B6FD26D1B}">
      <dsp:nvSpPr>
        <dsp:cNvPr id="0" name=""/>
        <dsp:cNvSpPr/>
      </dsp:nvSpPr>
      <dsp:spPr>
        <a:xfrm>
          <a:off x="5331798" y="238751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Remote teams need stricter controls</a:t>
          </a:r>
        </a:p>
      </dsp:txBody>
      <dsp:txXfrm>
        <a:off x="5331798" y="2387510"/>
        <a:ext cx="225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8D215-E1D3-4B68-AEE8-E3C949601A2E}">
      <dsp:nvSpPr>
        <dsp:cNvPr id="0" name=""/>
        <dsp:cNvSpPr/>
      </dsp:nvSpPr>
      <dsp:spPr>
        <a:xfrm>
          <a:off x="986894" y="1055"/>
          <a:ext cx="2828529" cy="16971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“Secure your endpoints... from risky activities and malicious attacks” (Berecki, 2022).</a:t>
          </a:r>
        </a:p>
      </dsp:txBody>
      <dsp:txXfrm>
        <a:off x="986894" y="1055"/>
        <a:ext cx="2828529" cy="1697117"/>
      </dsp:txXfrm>
    </dsp:sp>
    <dsp:sp modelId="{DF975A61-2A1A-4735-AB70-E2E80E0CF50C}">
      <dsp:nvSpPr>
        <dsp:cNvPr id="0" name=""/>
        <dsp:cNvSpPr/>
      </dsp:nvSpPr>
      <dsp:spPr>
        <a:xfrm>
          <a:off x="4098276" y="1055"/>
          <a:ext cx="2828529" cy="16971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DLP solutions prevent exfiltration</a:t>
          </a:r>
        </a:p>
      </dsp:txBody>
      <dsp:txXfrm>
        <a:off x="4098276" y="1055"/>
        <a:ext cx="2828529" cy="1697117"/>
      </dsp:txXfrm>
    </dsp:sp>
    <dsp:sp modelId="{832EF1BF-5FE5-4A7C-8203-D6413BFC5991}">
      <dsp:nvSpPr>
        <dsp:cNvPr id="0" name=""/>
        <dsp:cNvSpPr/>
      </dsp:nvSpPr>
      <dsp:spPr>
        <a:xfrm>
          <a:off x="2542585" y="1981026"/>
          <a:ext cx="2828529" cy="16971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 VPNs, antivirus, and firewalls</a:t>
          </a:r>
        </a:p>
      </dsp:txBody>
      <dsp:txXfrm>
        <a:off x="2542585" y="1981026"/>
        <a:ext cx="2828529" cy="16971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9C53F-F3A6-4C91-AC16-F3B22B40A196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2A433-6BEA-4CDF-AF23-84F5B6429C5A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“Set up a source code protection policy... including secure coding practices” (Berecki, 2022).</a:t>
          </a:r>
        </a:p>
      </dsp:txBody>
      <dsp:txXfrm>
        <a:off x="90151" y="2602589"/>
        <a:ext cx="2402775" cy="720000"/>
      </dsp:txXfrm>
    </dsp:sp>
    <dsp:sp modelId="{5C8EFCD0-99CA-48E1-A728-69E303A614CC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AD47C5-2053-48D3-B437-B27FC1357CCF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Include training and documentation</a:t>
          </a:r>
        </a:p>
      </dsp:txBody>
      <dsp:txXfrm>
        <a:off x="2913412" y="2602589"/>
        <a:ext cx="2402775" cy="720000"/>
      </dsp:txXfrm>
    </dsp:sp>
    <dsp:sp modelId="{135524DB-D2AC-41E2-A741-BBFFC626F1F5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CAF7C-1A93-43C2-8E51-F7FC9D13181C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Review access controls post-breach</a:t>
          </a:r>
        </a:p>
      </dsp:txBody>
      <dsp:txXfrm>
        <a:off x="5736673" y="2602589"/>
        <a:ext cx="240277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71A2E5-1E93-4950-9883-308955ED36A4}">
      <dsp:nvSpPr>
        <dsp:cNvPr id="0" name=""/>
        <dsp:cNvSpPr/>
      </dsp:nvSpPr>
      <dsp:spPr>
        <a:xfrm>
          <a:off x="530099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0AD870-D96D-424C-9FBE-E4DD12F24899}">
      <dsp:nvSpPr>
        <dsp:cNvPr id="0" name=""/>
        <dsp:cNvSpPr/>
      </dsp:nvSpPr>
      <dsp:spPr>
        <a:xfrm>
          <a:off x="829912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25B90-9CAC-430F-8A29-C7CF24EFDFC6}">
      <dsp:nvSpPr>
        <dsp:cNvPr id="0" name=""/>
        <dsp:cNvSpPr/>
      </dsp:nvSpPr>
      <dsp:spPr>
        <a:xfrm>
          <a:off x="80381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Git: Decentralized, low data loss risk, higher endpoint responsibility</a:t>
          </a:r>
        </a:p>
      </dsp:txBody>
      <dsp:txXfrm>
        <a:off x="80381" y="2738169"/>
        <a:ext cx="2306250" cy="720000"/>
      </dsp:txXfrm>
    </dsp:sp>
    <dsp:sp modelId="{EBF30C84-C34D-4CA3-8967-3208C5A2C636}">
      <dsp:nvSpPr>
        <dsp:cNvPr id="0" name=""/>
        <dsp:cNvSpPr/>
      </dsp:nvSpPr>
      <dsp:spPr>
        <a:xfrm>
          <a:off x="3239943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E15FB-8D5C-4A3F-995D-E91248A22195}">
      <dsp:nvSpPr>
        <dsp:cNvPr id="0" name=""/>
        <dsp:cNvSpPr/>
      </dsp:nvSpPr>
      <dsp:spPr>
        <a:xfrm>
          <a:off x="3539756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C755E7-CC05-487B-9A75-3D1DE5021020}">
      <dsp:nvSpPr>
        <dsp:cNvPr id="0" name=""/>
        <dsp:cNvSpPr/>
      </dsp:nvSpPr>
      <dsp:spPr>
        <a:xfrm>
          <a:off x="2790224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Perforce/SVN: Centralized, granular control, single point of failure</a:t>
          </a:r>
        </a:p>
      </dsp:txBody>
      <dsp:txXfrm>
        <a:off x="2790224" y="2738169"/>
        <a:ext cx="2306250" cy="720000"/>
      </dsp:txXfrm>
    </dsp:sp>
    <dsp:sp modelId="{BC7326A5-943F-4F62-835B-BB79DCA7CB11}">
      <dsp:nvSpPr>
        <dsp:cNvPr id="0" name=""/>
        <dsp:cNvSpPr/>
      </dsp:nvSpPr>
      <dsp:spPr>
        <a:xfrm>
          <a:off x="5949787" y="893169"/>
          <a:ext cx="1406812" cy="1406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E0622-B837-4C84-A78D-52FD050C6089}">
      <dsp:nvSpPr>
        <dsp:cNvPr id="0" name=""/>
        <dsp:cNvSpPr/>
      </dsp:nvSpPr>
      <dsp:spPr>
        <a:xfrm>
          <a:off x="6249600" y="119298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1B5EB-B942-4744-B5CA-EF02E110B003}">
      <dsp:nvSpPr>
        <dsp:cNvPr id="0" name=""/>
        <dsp:cNvSpPr/>
      </dsp:nvSpPr>
      <dsp:spPr>
        <a:xfrm>
          <a:off x="5500068" y="273816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Choose based on needs and apply best practices (Fernandes, 2025)</a:t>
          </a:r>
        </a:p>
      </dsp:txBody>
      <dsp:txXfrm>
        <a:off x="5500068" y="2738169"/>
        <a:ext cx="23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6571" y="1247775"/>
            <a:ext cx="6858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3741" y="1442172"/>
            <a:ext cx="6436518" cy="21773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Security Controls in Shared Source Code Repositories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5904" y="3912322"/>
            <a:ext cx="5419335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5241" y="3962400"/>
            <a:ext cx="5293518" cy="5810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>
                <a:solidFill>
                  <a:srgbClr val="FFFFFF"/>
                </a:solidFill>
              </a:rPr>
              <a:t>Best Practices and Implementation Strategies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rgbClr val="FFFFFF"/>
                </a:solidFill>
              </a:rPr>
              <a:t>Colton Kohler | M11.2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26720"/>
            <a:ext cx="7879842" cy="1919141"/>
          </a:xfrm>
        </p:spPr>
        <p:txBody>
          <a:bodyPr anchor="b">
            <a:normAutofit/>
          </a:bodyPr>
          <a:lstStyle/>
          <a:p>
            <a:r>
              <a:rPr lang="en-US" sz="5200"/>
              <a:t>Why Source Code Security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2899927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2776031"/>
            <a:ext cx="1405092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337269"/>
            <a:ext cx="7882128" cy="2905686"/>
          </a:xfrm>
        </p:spPr>
        <p:txBody>
          <a:bodyPr>
            <a:normAutofit/>
          </a:bodyPr>
          <a:lstStyle/>
          <a:p>
            <a:r>
              <a:rPr lang="en-US" sz="1900" dirty="0"/>
              <a:t>“Source code is the foundation of your software. Its security directly impacts your product’s success, reputation, and competitive edge” (Fernandes, 2025).</a:t>
            </a:r>
          </a:p>
          <a:p>
            <a:r>
              <a:rPr lang="en-US" sz="1900" dirty="0"/>
              <a:t>Over 43% of cyberattacks target small businesses.</a:t>
            </a:r>
          </a:p>
          <a:p>
            <a:r>
              <a:rPr lang="en-US" sz="1900" dirty="0"/>
              <a:t>IP theft, data breaches, and reputation damage are key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777E57D-6A88-4B5B-A068-2BA7FF4E8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02920"/>
            <a:ext cx="7882128" cy="1975104"/>
          </a:xfrm>
        </p:spPr>
        <p:txBody>
          <a:bodyPr anchor="b">
            <a:normAutofit/>
          </a:bodyPr>
          <a:lstStyle/>
          <a:p>
            <a:r>
              <a:rPr lang="en-US" sz="4700"/>
              <a:t>Automated Code Scanning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89407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3328416"/>
            <a:ext cx="7882128" cy="2715768"/>
          </a:xfrm>
        </p:spPr>
        <p:txBody>
          <a:bodyPr>
            <a:normAutofit/>
          </a:bodyPr>
          <a:lstStyle/>
          <a:p>
            <a:r>
              <a:rPr lang="en-US" sz="1900"/>
              <a:t>“Automated code scanning tools are a developer’s best friend to identify vulnerabilities early” (Fernandes, 2025).</a:t>
            </a:r>
          </a:p>
          <a:p>
            <a:r>
              <a:rPr lang="en-US" sz="1900"/>
              <a:t>Tools: Kiuwan, SonarQube, Checkmarx, Semgrep</a:t>
            </a:r>
          </a:p>
          <a:p>
            <a:r>
              <a:rPr lang="en-US" sz="1900"/>
              <a:t>Enables early detection of weaknesses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/>
              <a:t>Access Control &amp; Authentication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06FECD56-20F5-76AE-9929-D4B86FB3D83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6676" y="2481943"/>
          <a:ext cx="7626096" cy="3695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556" y="762001"/>
            <a:ext cx="3117384" cy="1708244"/>
          </a:xfrm>
        </p:spPr>
        <p:txBody>
          <a:bodyPr anchor="ctr">
            <a:normAutofit/>
          </a:bodyPr>
          <a:lstStyle/>
          <a:p>
            <a:r>
              <a:rPr lang="en-US" sz="3500"/>
              <a:t>Encryption &amp; Monitoring</a:t>
            </a:r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7DE100C1-FA24-E0F5-B2AD-7A03A2432A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92" r="33608" b="-2"/>
          <a:stretch>
            <a:fillRect/>
          </a:stretch>
        </p:blipFill>
        <p:spPr>
          <a:xfrm>
            <a:off x="20" y="-2"/>
            <a:ext cx="4571980" cy="68580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2556" y="2470245"/>
            <a:ext cx="3117384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“Encrypt sensitive configurations, passwords, or API keys stored within the codebase” (Fernandes, 2025).</a:t>
            </a:r>
          </a:p>
          <a:p>
            <a:r>
              <a:rPr lang="en-US" sz="1700"/>
              <a:t>Use AES 256-bit encryption</a:t>
            </a:r>
          </a:p>
          <a:p>
            <a:r>
              <a:rPr lang="en-US" sz="1700"/>
              <a:t>Monitor activity for breach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831" y="1106007"/>
            <a:ext cx="7912519" cy="1182927"/>
          </a:xfrm>
        </p:spPr>
        <p:txBody>
          <a:bodyPr anchor="b">
            <a:normAutofit/>
          </a:bodyPr>
          <a:lstStyle/>
          <a:p>
            <a:r>
              <a:rPr lang="en-US" sz="4900"/>
              <a:t>Endpoint &amp; Network Security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58" y="806470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534FE7-5653-3EBA-E768-9E9970821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7936162"/>
              </p:ext>
            </p:extLst>
          </p:nvPr>
        </p:nvGraphicFramePr>
        <p:xfrm>
          <a:off x="602100" y="2599200"/>
          <a:ext cx="7913700" cy="367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&amp; Incident Response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F3A9C3-ADFC-ACB7-12FB-C7D8FA1744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381677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VCS Security: Git vs SVN vs Perforce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17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7911" y="591829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46996" y="821124"/>
            <a:ext cx="6835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256" y="1336268"/>
            <a:ext cx="95786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4F2562-D220-3A83-A329-288FD74863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8115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Summary of Best Practices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sz="1700"/>
              <a:t>Use code scanning (SAST/DAST)</a:t>
            </a:r>
          </a:p>
          <a:p>
            <a:r>
              <a:rPr sz="1700"/>
              <a:t>Enforce access controls</a:t>
            </a:r>
          </a:p>
          <a:p>
            <a:r>
              <a:rPr sz="1700"/>
              <a:t>Enable 2FA/MFA</a:t>
            </a:r>
          </a:p>
          <a:p>
            <a:r>
              <a:rPr sz="1700"/>
              <a:t>Encrypt data at rest and in transit</a:t>
            </a:r>
          </a:p>
          <a:p>
            <a:r>
              <a:rPr sz="1700"/>
              <a:t>Deploy endpoint &amp; network security</a:t>
            </a:r>
          </a:p>
          <a:p>
            <a:r>
              <a:rPr sz="1700"/>
              <a:t>Train teams on secure practices</a:t>
            </a:r>
          </a:p>
        </p:txBody>
      </p:sp>
      <p:pic>
        <p:nvPicPr>
          <p:cNvPr id="22" name="Picture 21" descr="Stock numbers on a digital display">
            <a:extLst>
              <a:ext uri="{FF2B5EF4-FFF2-40B4-BE49-F238E27FC236}">
                <a16:creationId xmlns:a16="http://schemas.microsoft.com/office/drawing/2014/main" id="{6E13166D-8AD8-305B-90FE-E63F01739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37" r="18785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Fernandes, C. (2025). Source Code Security Best Practices: A Complete Guide. Assembla.</a:t>
            </a:r>
          </a:p>
          <a:p>
            <a:endParaRPr/>
          </a:p>
          <a:p>
            <a:r>
              <a:t>Berecki, B. (2022). Best Practices for Source Code Security. Endpoint Protector.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359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Security Controls in Shared Source Code Repositories</vt:lpstr>
      <vt:lpstr>Why Source Code Security Matters</vt:lpstr>
      <vt:lpstr>Automated Code Scanning</vt:lpstr>
      <vt:lpstr>Access Control &amp; Authentication</vt:lpstr>
      <vt:lpstr>Encryption &amp; Monitoring</vt:lpstr>
      <vt:lpstr>Endpoint &amp; Network Security</vt:lpstr>
      <vt:lpstr>Policy &amp; Incident Response</vt:lpstr>
      <vt:lpstr>VCS Security: Git vs SVN vs Perforce</vt:lpstr>
      <vt:lpstr>Summary of Best Practices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Colton</dc:creator>
  <cp:keywords/>
  <dc:description>generated using python-pptx</dc:description>
  <cp:lastModifiedBy>Colton Kohler</cp:lastModifiedBy>
  <cp:revision>2</cp:revision>
  <dcterms:created xsi:type="dcterms:W3CDTF">2013-01-27T09:14:16Z</dcterms:created>
  <dcterms:modified xsi:type="dcterms:W3CDTF">2025-07-21T03:06:20Z</dcterms:modified>
  <cp:category/>
</cp:coreProperties>
</file>